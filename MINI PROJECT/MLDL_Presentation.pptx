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90204"/>
              </a:rPr>
              <a:t>Resume Match Scores</a:t>
            </a:r>
            <a:endParaRPr sz="1800" b="0" i="0" u="none" strike="noStrike">
              <a:solidFill>
                <a:srgbClr val="000000"/>
              </a:solidFill>
              <a:latin typeface="Arial" panose="020B060402020209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 Score</c:v>
                </c:pt>
              </c:strCache>
            </c:strRef>
          </c:tx>
          <c:spPr>
            <a:solidFill>
              <a:srgbClr val="1E4D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A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8E9B"/>
              </a:solidFill>
              <a:effectLst/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Resume A</c:v>
                </c:pt>
                <c:pt idx="1">
                  <c:v>Resume B</c:v>
                </c:pt>
                <c:pt idx="2">
                  <c:v>Resume C</c:v>
                </c:pt>
                <c:pt idx="3">
                  <c:v>Resume D</c:v>
                </c:pt>
                <c:pt idx="4">
                  <c:v>Resume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</c:v>
                </c:pt>
                <c:pt idx="1">
                  <c:v>0.74</c:v>
                </c:pt>
                <c:pt idx="2">
                  <c:v>0.61</c:v>
                </c:pt>
                <c:pt idx="3">
                  <c:v>0.55</c:v>
                </c:pt>
                <c:pt idx="4">
                  <c:v>0.38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9449b6c-3649-4194-bc62-27f2c70fd211}"/>
      </c:ext>
    </c:extLst>
  </c:chart>
  <c:spPr>
    <a:solidFill>
      <a:srgbClr val="F8FB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6400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"/>
            <a:ext cx="164592" cy="16459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54112" y="228600"/>
            <a:ext cx="164592" cy="164592"/>
          </a:xfrm>
          <a:prstGeom prst="ellipse">
            <a:avLst/>
          </a:prstGeom>
          <a:solidFill>
            <a:srgbClr val="0EA5E9">
              <a:alpha val="32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0144" y="228600"/>
            <a:ext cx="164592" cy="164592"/>
          </a:xfrm>
          <a:prstGeom prst="ellipse">
            <a:avLst/>
          </a:prstGeom>
          <a:solidFill>
            <a:srgbClr val="0EA5E9">
              <a:alpha val="24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66176" y="228600"/>
            <a:ext cx="164592" cy="164592"/>
          </a:xfrm>
          <a:prstGeom prst="ellipse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22208" y="228600"/>
            <a:ext cx="164592" cy="164592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14400"/>
            <a:ext cx="7863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Resume–Job Matching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41148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TF-IDF &amp; BERT Deep Learning Based Resume Screening System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530352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29000"/>
            <a:ext cx="4846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 nihalani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Kajal Joseph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Institute of Technology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0" y="3200400"/>
            <a:ext cx="2194560" cy="1554480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34290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34747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35661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system that automates resume screening using NLP, TF-IDF, and BERT deep learning — combining classical ML with transformer-based semantic understanding.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3195955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46320" y="91440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0" y="1444752"/>
            <a:ext cx="34747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1572895"/>
            <a:ext cx="3657600" cy="15589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resume screening using NLP, ML &amp; BERT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hiring efficiency with semantic matching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HR effort and bias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objective, context-aware match scoring</a:t>
            </a:r>
            <a:endParaRPr lang="en-US" sz="13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287395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73455"/>
            <a:ext cx="8229600" cy="2103120"/>
          </a:xfrm>
          <a:prstGeom prst="rect">
            <a:avLst/>
          </a:prstGeom>
          <a:solidFill>
            <a:srgbClr val="1122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79195"/>
            <a:ext cx="740664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resumes with job descriptions using similarity scoring to automate and improve the recruitment pipeline.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260604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246120"/>
            <a:ext cx="260604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45008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443732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Filtering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822192"/>
            <a:ext cx="23317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spend hours screening each resume manually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0" y="3246120"/>
            <a:ext cx="260604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324612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345008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68090" y="3449447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Bias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3822192"/>
            <a:ext cx="23317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evaluation leads to inconsistent hiring decisions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035040" y="3246120"/>
            <a:ext cx="260604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324612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073" y="345008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1780" y="3443732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Process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72200" y="3822192"/>
            <a:ext cx="23317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screening cannot scale with high application volumes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868680" cy="11430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686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024128"/>
            <a:ext cx="7132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Screening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pipeline to screen and filter resumes without human intervention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40280"/>
            <a:ext cx="868680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8686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350008"/>
            <a:ext cx="7132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Match Score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 quantitative similarity score between each resume and the job description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868680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66160"/>
            <a:ext cx="8686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675888"/>
            <a:ext cx="7132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Matches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069080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resume-job pairs as strong, moderate, or weak matches for easy ranking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841248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14400"/>
            <a:ext cx="10972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005840"/>
            <a:ext cx="7955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Systems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389888"/>
            <a:ext cx="79552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ATS tools rely purely on keyword matching — they miss semantic meaning and context, leading to poor candidate ranking.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240280"/>
            <a:ext cx="841248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2240280"/>
            <a:ext cx="10972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331720"/>
            <a:ext cx="7955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Semantics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2715768"/>
            <a:ext cx="79552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bag-of-words approaches fail to capture relationships between synonymous terms (e.g., "developer" vs "engineer").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3566160"/>
            <a:ext cx="841248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3566160"/>
            <a:ext cx="109728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657600"/>
            <a:ext cx="7955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as the Solution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4041648"/>
            <a:ext cx="79552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(Bidirectional Encoder Representations from Transformers) addresses semantic gaps by generating deep contextual embeddings — enabling true understanding beyond keyword overlap.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54480" cy="10058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554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JD Input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0" y="822960"/>
            <a:ext cx="1463040" cy="100584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822960"/>
            <a:ext cx="1463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Tokenization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554480" y="1325880"/>
            <a:ext cx="274320" cy="0"/>
          </a:xfrm>
          <a:prstGeom prst="line">
            <a:avLst/>
          </a:prstGeom>
          <a:noFill/>
          <a:ln w="25400">
            <a:solidFill>
              <a:srgbClr val="1E4D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87755"/>
            <a:ext cx="274320" cy="0"/>
          </a:xfrm>
          <a:prstGeom prst="line">
            <a:avLst/>
          </a:prstGeom>
          <a:noFill/>
          <a:ln w="25400">
            <a:solidFill>
              <a:srgbClr val="1D6F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026160"/>
            <a:ext cx="132588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02616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Path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83380" y="1403985"/>
            <a:ext cx="0" cy="256032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660017"/>
            <a:ext cx="1325880" cy="502920"/>
          </a:xfrm>
          <a:prstGeom prst="rect">
            <a:avLst/>
          </a:prstGeom>
          <a:solidFill>
            <a:srgbClr val="0E8E9B"/>
          </a:solidFill>
          <a:ln w="12700">
            <a:solidFill>
              <a:srgbClr val="0E8E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660017"/>
            <a:ext cx="1325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83380" y="2162937"/>
            <a:ext cx="0" cy="246888"/>
          </a:xfrm>
          <a:prstGeom prst="line">
            <a:avLst/>
          </a:prstGeom>
          <a:noFill/>
          <a:ln w="19050">
            <a:solidFill>
              <a:srgbClr val="0E8E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409825"/>
            <a:ext cx="132588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409825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946785"/>
            <a:ext cx="13258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946785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Path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20940" y="1403985"/>
            <a:ext cx="0" cy="25603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1660017"/>
            <a:ext cx="1325880" cy="5029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660017"/>
            <a:ext cx="1325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20940" y="2162937"/>
            <a:ext cx="0" cy="246888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2409825"/>
            <a:ext cx="132588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409825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Score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638425"/>
            <a:ext cx="20116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81600" y="2869565"/>
            <a:ext cx="1463040" cy="640080"/>
          </a:xfrm>
          <a:prstGeom prst="rect">
            <a:avLst/>
          </a:prstGeom>
          <a:solidFill>
            <a:srgbClr val="1E4D8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81600" y="287401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657600"/>
            <a:ext cx="416052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749040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38912" y="4133088"/>
            <a:ext cx="37947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Frequency–Inverse Document Frequency creates weighted term vectors. Cosine similarity computes a 0–1 match score between resume and job description vectors.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3657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657600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749040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Semantic Matching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919472" y="4133088"/>
            <a:ext cx="37947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generates deep contextual embeddings, capturing meaning beyond keywords. Sentence-transformers compute semantic similarity for context-aware scoring.</a:t>
            </a:r>
            <a:endParaRPr lang="en-US" sz="115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3291840" y="971550"/>
            <a:ext cx="3566160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1" idx="0"/>
          </p:cNvCxnSpPr>
          <p:nvPr/>
        </p:nvCxnSpPr>
        <p:spPr>
          <a:xfrm>
            <a:off x="5913120" y="2638425"/>
            <a:ext cx="0" cy="2355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918210"/>
            <a:ext cx="1226820" cy="1226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960120"/>
            <a:ext cx="6766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Resume &amp; Job Datasets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0" y="1508760"/>
            <a:ext cx="6766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structured datasets containing real-world resumes and job descriptions for training and evaluation.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2423160"/>
            <a:ext cx="1920240" cy="2286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2423160"/>
            <a:ext cx="19202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651760"/>
            <a:ext cx="1920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20040" y="365760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68880" y="2423160"/>
            <a:ext cx="1920240" cy="228600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68880" y="2423160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2651760"/>
            <a:ext cx="1920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468880" y="365760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17720" y="2423160"/>
            <a:ext cx="1920240" cy="2286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2423160"/>
            <a:ext cx="192024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2651760"/>
            <a:ext cx="1920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617720" y="365760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766560" y="2423160"/>
            <a:ext cx="1920240" cy="2286000"/>
          </a:xfrm>
          <a:prstGeom prst="rect">
            <a:avLst/>
          </a:prstGeom>
          <a:solidFill>
            <a:srgbClr val="11224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66560" y="2423160"/>
            <a:ext cx="192024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0" y="2651760"/>
            <a:ext cx="1920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2-Class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766560" y="365760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Type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02920" cy="17373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5029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text to lowercase to ensure uniformity. 'Python' and 'python' treated the same.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502920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14400"/>
            <a:ext cx="5029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09728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155448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common words like 'the', 'is', 'at' that carry no meaningful information.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502920" cy="1737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80360"/>
            <a:ext cx="5029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06324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52044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individual tokens (words/terms) for structured vectorization.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502920" cy="1737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80360"/>
            <a:ext cx="5029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49240" y="306324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/ Lemmatization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9240" y="3520440"/>
            <a:ext cx="3383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their root form: 'running' → 'run', 'studies' → 'study'.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554480" cy="1280160"/>
          </a:xfrm>
          <a:prstGeom prst="ellipse">
            <a:avLst/>
          </a:prstGeom>
          <a:solidFill>
            <a:srgbClr val="1E4D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691640"/>
            <a:ext cx="41148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051560"/>
            <a:ext cx="1554480" cy="1280160"/>
          </a:xfrm>
          <a:prstGeom prst="ellipse">
            <a:avLst/>
          </a:prstGeom>
          <a:solidFill>
            <a:srgbClr val="1D6FA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05156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691640"/>
            <a:ext cx="41148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051560"/>
            <a:ext cx="1554480" cy="1280160"/>
          </a:xfrm>
          <a:prstGeom prst="ellipse">
            <a:avLst/>
          </a:prstGeom>
          <a:solidFill>
            <a:srgbClr val="0E8E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05156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1691640"/>
            <a:ext cx="41148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051560"/>
            <a:ext cx="1554480" cy="1280160"/>
          </a:xfrm>
          <a:prstGeom prst="ellipse">
            <a:avLst/>
          </a:prstGeom>
          <a:solidFill>
            <a:srgbClr val="06B6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05156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51460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1554480" cy="1280160"/>
          </a:xfrm>
          <a:prstGeom prst="ellipse">
            <a:avLst/>
          </a:prstGeom>
          <a:solidFill>
            <a:srgbClr val="4C1D95"/>
          </a:solidFill>
          <a:ln w="19050">
            <a:solidFill>
              <a:srgbClr val="D8B4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8892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429000"/>
            <a:ext cx="41148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2788920"/>
            <a:ext cx="1554480" cy="1280160"/>
          </a:xfrm>
          <a:prstGeom prst="ellipse">
            <a:avLst/>
          </a:prstGeom>
          <a:solidFill>
            <a:srgbClr val="6D28D9"/>
          </a:solidFill>
          <a:ln w="19050">
            <a:solidFill>
              <a:srgbClr val="D8B4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278892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3429000"/>
            <a:ext cx="41148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2788920"/>
            <a:ext cx="1554480" cy="128016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D8B4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78892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3429000"/>
            <a:ext cx="41148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2788920"/>
            <a:ext cx="1554480" cy="1280160"/>
          </a:xfrm>
          <a:prstGeom prst="ellipse">
            <a:avLst/>
          </a:prstGeom>
          <a:solidFill>
            <a:srgbClr val="9333EA"/>
          </a:solidFill>
          <a:ln w="19050">
            <a:solidFill>
              <a:srgbClr val="D8B4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78892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1691640"/>
            <a:ext cx="36576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3429000"/>
            <a:ext cx="365760" cy="0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9480" y="1691640"/>
            <a:ext cx="0" cy="17373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9480" y="2194560"/>
            <a:ext cx="1645920" cy="822960"/>
          </a:xfrm>
          <a:prstGeom prst="rect">
            <a:avLst/>
          </a:prstGeom>
          <a:solidFill>
            <a:srgbClr val="1E4D8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2194560"/>
            <a:ext cx="1645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261104"/>
            <a:ext cx="411480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29768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TF-IDF: cos(θ) = (A·B) / (||A||×||B||)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1480" y="4626864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dot product of TF-IDF weighted term frequencies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4261104"/>
            <a:ext cx="411480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29768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BERT: sim(u,v) = cos(E_u, E_v)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4626864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over 768-dim contextual embeddings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377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 for the entire pipeline.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6517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32688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627632"/>
            <a:ext cx="2377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vectorizer, cosine similarity, and ML utilities.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8229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22960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932688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13258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HuggingFace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627632"/>
            <a:ext cx="2377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BERT model for deep semantic embeddings and contextual matching.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26517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44368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NLTK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33375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Toolkit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639312"/>
            <a:ext cx="2377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stopword removal, and stemming.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3464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44368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91840" y="33375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639312"/>
            <a:ext cx="2377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loading, manipulation, and preprocessing.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8346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83464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944368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72200" y="33375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639312"/>
            <a:ext cx="2377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 for upload and visualization.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713232" cy="713232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13232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85953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1179576"/>
            <a:ext cx="274320" cy="0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877824"/>
            <a:ext cx="5212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resume and job description dataset through Streamlit 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" y="1536192"/>
            <a:ext cx="0" cy="109728"/>
          </a:xfrm>
          <a:prstGeom prst="line">
            <a:avLst/>
          </a:prstGeom>
          <a:noFill/>
          <a:ln w="19050">
            <a:solidFill>
              <a:srgbClr val="1E4D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645920"/>
            <a:ext cx="850392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45920"/>
            <a:ext cx="713232" cy="71323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713232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168249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2002536"/>
            <a:ext cx="274320" cy="0"/>
          </a:xfrm>
          <a:prstGeom prst="line">
            <a:avLst/>
          </a:prstGeom>
          <a:noFill/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700784"/>
            <a:ext cx="5212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preprocessing pipeline: lowercase → remove stopwords → tokenize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" y="2359152"/>
            <a:ext cx="0" cy="109728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68880"/>
            <a:ext cx="850392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468880"/>
            <a:ext cx="713232" cy="7132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468880"/>
            <a:ext cx="713232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0432" y="250545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Match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54680" y="2825496"/>
            <a:ext cx="2743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523744"/>
            <a:ext cx="5212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+ cosine similarity computes keyword-based match scores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" y="3182112"/>
            <a:ext cx="0" cy="109728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291840"/>
            <a:ext cx="850392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291840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91840"/>
            <a:ext cx="713232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0432" y="332841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Match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154680" y="3648456"/>
            <a:ext cx="27432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346704"/>
            <a:ext cx="5212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generates 768-dim contextual embeddings; semantic cosine similarity computed for deep understanding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" y="4005072"/>
            <a:ext cx="0" cy="10972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114800"/>
            <a:ext cx="850392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114800"/>
            <a:ext cx="713232" cy="7132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114800"/>
            <a:ext cx="713232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70432" y="415137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154680" y="4471416"/>
            <a:ext cx="27432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4169664"/>
            <a:ext cx="5212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results with combined TF-IDF + BERT scores displayed in Streamlit dashboard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4892040"/>
            <a:ext cx="8503920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1032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Streamlit — TF-IDF + BERT dual-engine resume matching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Highlights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4747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3657600" cy="1844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scores (0–1) per resume-job pair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semantic similarity scores for context-aware matching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matching job identified per CV automatically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dashboard with combined scores in Streamlit UI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544570"/>
            <a:ext cx="1280160" cy="1051560"/>
          </a:xfrm>
          <a:prstGeom prst="rect">
            <a:avLst/>
          </a:prstGeom>
        </p:spPr>
      </p:pic>
      <p:graphicFrame>
        <p:nvGraphicFramePr>
          <p:cNvPr id="9" name="Chart 0"/>
          <p:cNvGraphicFramePr/>
          <p:nvPr/>
        </p:nvGraphicFramePr>
        <p:xfrm>
          <a:off x="4663440" y="914400"/>
          <a:ext cx="4206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60120"/>
            <a:ext cx="868680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960120"/>
            <a:ext cx="8686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17320" y="1051560"/>
            <a:ext cx="7132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Processing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1463040"/>
            <a:ext cx="71323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hundreds of resume-job pairs in seconds — far exceeding manual HR screening speed.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5760" y="2286000"/>
            <a:ext cx="841248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286000"/>
            <a:ext cx="86868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286000"/>
            <a:ext cx="8686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17320" y="2377440"/>
            <a:ext cx="7132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Semantic Understanding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17320" y="2788920"/>
            <a:ext cx="71323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 capture contextual meaning — 'developer' and 'software engineer' are understood as equivalent.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65760" y="3611880"/>
            <a:ext cx="841248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611880"/>
            <a:ext cx="868680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611880"/>
            <a:ext cx="8686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417320" y="3703320"/>
            <a:ext cx="7132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 Accuracy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17320" y="4114800"/>
            <a:ext cx="71323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handles keyword precision; BERT adds semantic depth. Combined scoring gives best-of-both-worlds results.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86868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14400"/>
            <a:ext cx="10972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024128"/>
            <a:ext cx="7955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Sensitivity (TF-IDF Path)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444752"/>
            <a:ext cx="79552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TF-IDF component still relies on term overlap. Rare synonyms or heavily paraphrased text may reduce its score accuracy.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286000"/>
            <a:ext cx="10972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395728"/>
            <a:ext cx="7955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Inference Speed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2816352"/>
            <a:ext cx="79552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 require more compute than TF-IDF. Batch processing large datasets may be slow without GPU acceleration.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3657600"/>
            <a:ext cx="109728" cy="1188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767328"/>
            <a:ext cx="7955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Multi-Modal Support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4187952"/>
            <a:ext cx="79552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processes plain text — cannot analyze resume formatting, logos, or visual layout elements.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2697480" cy="3840480"/>
          </a:xfrm>
          <a:prstGeom prst="rect">
            <a:avLst/>
          </a:prstGeom>
          <a:solidFill>
            <a:srgbClr val="112240"/>
          </a:solidFill>
          <a:ln w="19050">
            <a:solidFill>
              <a:srgbClr val="1E4D8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960120"/>
            <a:ext cx="2697480" cy="7315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70432" y="1234440"/>
            <a:ext cx="914400" cy="914400"/>
          </a:xfrm>
          <a:prstGeom prst="ellipse">
            <a:avLst/>
          </a:prstGeom>
          <a:solidFill>
            <a:srgbClr val="1E4D8C">
              <a:alpha val="25000"/>
            </a:srgbClr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0432" y="123444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1480" y="233172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Systems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2331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into existing HR platforms to automate initial resume shortlisting and candidate ranking.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00400" y="960120"/>
            <a:ext cx="2697480" cy="3840480"/>
          </a:xfrm>
          <a:prstGeom prst="rect">
            <a:avLst/>
          </a:prstGeom>
          <a:solidFill>
            <a:srgbClr val="1122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60120"/>
            <a:ext cx="269748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96512" y="1234440"/>
            <a:ext cx="914400" cy="91440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96512" y="123444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37560" y="233172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383280" y="2926080"/>
            <a:ext cx="2331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job board recommendation engines to suggest the best-fit roles to applicants.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26480" y="960120"/>
            <a:ext cx="2697480" cy="3840480"/>
          </a:xfrm>
          <a:prstGeom prst="rect">
            <a:avLst/>
          </a:prstGeom>
          <a:solidFill>
            <a:srgbClr val="11224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960120"/>
            <a:ext cx="26974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22592" y="1234440"/>
            <a:ext cx="914400" cy="9144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22592" y="123444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263640" y="233172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(Applicant Tracking)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309360" y="2926080"/>
            <a:ext cx="2331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Applicant Tracking Systems with ML-based match scoring for smarter filtering.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1074293"/>
            <a:ext cx="868680" cy="320040"/>
          </a:xfrm>
          <a:prstGeom prst="rect">
            <a:avLst/>
          </a:prstGeom>
          <a:solidFill>
            <a:srgbClr val="0EA5E9">
              <a:alpha val="2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076833"/>
            <a:ext cx="868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Scoring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527048"/>
            <a:ext cx="3794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skill extraction, experience weighting, and multi-factor scoring for even more nuanced matching.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68680"/>
            <a:ext cx="4160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051433"/>
            <a:ext cx="86868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051433"/>
            <a:ext cx="868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105156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527048"/>
            <a:ext cx="3794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 on domain-specific HR datasets to improve accuracy for technical job roles and industry jargon.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41605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3112643"/>
            <a:ext cx="868680" cy="320040"/>
          </a:xfrm>
          <a:prstGeom prst="rect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112643"/>
            <a:ext cx="868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584448"/>
            <a:ext cx="3794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system to handle resumes and job descriptions in multiple languages using multilingual BERT (mBERT).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416052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3112643"/>
            <a:ext cx="868680" cy="320040"/>
          </a:xfrm>
          <a:prstGeom prst="rect">
            <a:avLst/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3108833"/>
            <a:ext cx="868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310896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Deployment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92040" y="3584448"/>
            <a:ext cx="3794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system as a REST API for seamless integration with third-party HR platforms and ATS tools.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417320"/>
          </a:xfrm>
          <a:prstGeom prst="rect">
            <a:avLst/>
          </a:prstGeom>
          <a:solidFill>
            <a:srgbClr val="1122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51560"/>
            <a:ext cx="77724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dual-engine resume matching system combining TF-IDF keyword scoring with BERT deep learning — delivering fast, semantically-aware, and accurate candidate ranking at scale.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16052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60320"/>
            <a:ext cx="109728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3703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(keyword matching)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2560320"/>
            <a:ext cx="384048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560320"/>
            <a:ext cx="10972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560320"/>
            <a:ext cx="3703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Semantic Embeddings (deep understanding)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416052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10972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03320"/>
            <a:ext cx="3703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dual-score ranking pipeline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46320" y="3703320"/>
            <a:ext cx="384048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3703320"/>
            <a:ext cx="10972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703320"/>
            <a:ext cx="3703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visualization UI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79492"/>
            <a:ext cx="88239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6900" y="1280160"/>
            <a:ext cx="7863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96900" y="2194560"/>
            <a:ext cx="7863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157220" y="2788920"/>
            <a:ext cx="2743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6900" y="29260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Resume–Job Matching Predictor  |  VESIT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6559</Words>
  <Application>WPS Writer</Application>
  <PresentationFormat>On-screen Show (16:9)</PresentationFormat>
  <Paragraphs>375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汉仪旗黑</vt:lpstr>
      <vt:lpstr>Arial Unicode MS</vt:lpstr>
      <vt:lpstr>苹方-简</vt:lpstr>
      <vt:lpstr>宋体-简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Resume–Job Matching Predictor</dc:title>
  <dc:creator>PptxGenJS</dc:creator>
  <dc:subject>PptxGenJS Presentation</dc:subject>
  <cp:lastModifiedBy>HITESH NIHALANI</cp:lastModifiedBy>
  <cp:revision>3</cp:revision>
  <dcterms:created xsi:type="dcterms:W3CDTF">2026-04-12T09:55:20Z</dcterms:created>
  <dcterms:modified xsi:type="dcterms:W3CDTF">2026-04-12T09:55:20Z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3B68C63076B05FAC086CDB69FB501317_43</vt:lpwstr>
  </property>
  <property fmtid="{D5CDD505-2E9C-101B-9397-08002B2CF9AE}" pid="3" name="KSOProductBuildVer">
    <vt:lpwstr>1033-12.1.23153.23153</vt:lpwstr>
  </property>
</Properties>
</file>